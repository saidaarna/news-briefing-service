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ricolage Grotesque ExtraBold"/>
      <p:regular r:id="rId17"/>
    </p:embeddedFont>
    <p:embeddedFont>
      <p:font typeface="Montserrat"/>
      <p:regular r:id="rId18"/>
    </p:embeddedFont>
    <p:embeddedFont>
      <p:font typeface="Montserrat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idaarna/news-briefing-service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7657"/>
            <a:ext cx="477507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 News Briefing Service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153245"/>
            <a:ext cx="2138809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5" name="Text 2"/>
          <p:cNvSpPr/>
          <p:nvPr/>
        </p:nvSpPr>
        <p:spPr>
          <a:xfrm>
            <a:off x="4010174" y="2195736"/>
            <a:ext cx="242589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TOPIC 3 · AI ACADEMY · AI-ENG-110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25119" y="2579117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Team: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AIngels — Saida Arabova, Nigar Rustamova, Laman Mirzayeva, Nazrin Aliyeva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May 24, 2026  | 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github.com/saidaarna/news-briefing-service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4200"/>
            <a:ext cx="557770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 Problem in One Sentence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639788"/>
            <a:ext cx="4107135" cy="2519511"/>
          </a:xfrm>
          <a:prstGeom prst="roundRect">
            <a:avLst>
              <a:gd name="adj" fmla="val 4051"/>
            </a:avLst>
          </a:prstGeom>
          <a:solidFill>
            <a:srgbClr val="243799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781547"/>
            <a:ext cx="24371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What the System Does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144762"/>
            <a:ext cx="382361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user configures their preferred news sources and topics; the service fetches all feeds concurrently, removes duplicate stories automatically, and delivers a personalized AI-generated Markdown briefing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daily, in under one second of network time.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78154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Inputs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144762"/>
            <a:ext cx="3902943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RSS feed URLs + raw HTML news pages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profile: preferred topics, excluded sources, section cap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301652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Outputs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3379738"/>
            <a:ext cx="3902943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daily digest (Markdown file)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logs with per-article latency and cache-hit telemetry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8882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711250"/>
            <a:ext cx="274453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Module Boundaries and Data Flow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1098872"/>
            <a:ext cx="3612207" cy="361220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36" y="1098872"/>
            <a:ext cx="3612207" cy="36122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09071" y="1538213"/>
            <a:ext cx="1764581" cy="804714"/>
          </a:xfrm>
          <a:prstGeom prst="roundRect">
            <a:avLst>
              <a:gd name="adj" fmla="val 8522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694783" y="1538213"/>
            <a:ext cx="57150" cy="804714"/>
          </a:xfrm>
          <a:prstGeom prst="roundRect">
            <a:avLst>
              <a:gd name="adj" fmla="val 79767"/>
            </a:avLst>
          </a:prstGeom>
          <a:solidFill>
            <a:srgbClr val="EEAEF6"/>
          </a:solidFill>
          <a:ln/>
        </p:spPr>
      </p:sp>
      <p:sp>
        <p:nvSpPr>
          <p:cNvPr id="8" name="Text 4"/>
          <p:cNvSpPr/>
          <p:nvPr/>
        </p:nvSpPr>
        <p:spPr>
          <a:xfrm>
            <a:off x="4874716" y="166099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 &amp; Streamlit UI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874716" y="1913558"/>
            <a:ext cx="147615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Routes requests to the Pipeline orchestrator.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556697" y="1538213"/>
            <a:ext cx="1764581" cy="804714"/>
          </a:xfrm>
          <a:prstGeom prst="roundRect">
            <a:avLst>
              <a:gd name="adj" fmla="val 8522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42410" y="1538213"/>
            <a:ext cx="57150" cy="804714"/>
          </a:xfrm>
          <a:prstGeom prst="roundRect">
            <a:avLst>
              <a:gd name="adj" fmla="val 79767"/>
            </a:avLst>
          </a:prstGeom>
          <a:solidFill>
            <a:srgbClr val="EEAEF6"/>
          </a:solidFill>
          <a:ln/>
        </p:spPr>
      </p:sp>
      <p:sp>
        <p:nvSpPr>
          <p:cNvPr id="12" name="Text 8"/>
          <p:cNvSpPr/>
          <p:nvPr/>
        </p:nvSpPr>
        <p:spPr>
          <a:xfrm>
            <a:off x="6722343" y="166099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Pipeline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722343" y="1913558"/>
            <a:ext cx="147615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Triggers the Fetch Service concurrently.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709071" y="2425973"/>
            <a:ext cx="1764581" cy="958007"/>
          </a:xfrm>
          <a:prstGeom prst="roundRect">
            <a:avLst>
              <a:gd name="adj" fmla="val 715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94783" y="2425973"/>
            <a:ext cx="57150" cy="958007"/>
          </a:xfrm>
          <a:prstGeom prst="roundRect">
            <a:avLst>
              <a:gd name="adj" fmla="val 79767"/>
            </a:avLst>
          </a:prstGeom>
          <a:solidFill>
            <a:srgbClr val="EEAEF6"/>
          </a:solidFill>
          <a:ln/>
        </p:spPr>
      </p:sp>
      <p:sp>
        <p:nvSpPr>
          <p:cNvPr id="16" name="Text 12"/>
          <p:cNvSpPr/>
          <p:nvPr/>
        </p:nvSpPr>
        <p:spPr>
          <a:xfrm>
            <a:off x="4874716" y="254875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Deduplicator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74716" y="2801317"/>
            <a:ext cx="1476152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Filters identical articles using Jaccard k-shingles (via provided ai/ package).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556697" y="2425973"/>
            <a:ext cx="1764581" cy="958007"/>
          </a:xfrm>
          <a:prstGeom prst="roundRect">
            <a:avLst>
              <a:gd name="adj" fmla="val 715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42410" y="2425973"/>
            <a:ext cx="57150" cy="958007"/>
          </a:xfrm>
          <a:prstGeom prst="roundRect">
            <a:avLst>
              <a:gd name="adj" fmla="val 79767"/>
            </a:avLst>
          </a:prstGeom>
          <a:solidFill>
            <a:srgbClr val="EEAEF6"/>
          </a:solidFill>
          <a:ln/>
        </p:spPr>
      </p:sp>
      <p:sp>
        <p:nvSpPr>
          <p:cNvPr id="20" name="Text 16"/>
          <p:cNvSpPr/>
          <p:nvPr/>
        </p:nvSpPr>
        <p:spPr>
          <a:xfrm>
            <a:off x="6722343" y="254875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 Service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722343" y="2801317"/>
            <a:ext cx="1476152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Handles API calls, caching, and retries (via provided ai/ package).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709071" y="3467026"/>
            <a:ext cx="1764581" cy="804714"/>
          </a:xfrm>
          <a:prstGeom prst="roundRect">
            <a:avLst>
              <a:gd name="adj" fmla="val 8522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94783" y="3467026"/>
            <a:ext cx="57150" cy="804714"/>
          </a:xfrm>
          <a:prstGeom prst="roundRect">
            <a:avLst>
              <a:gd name="adj" fmla="val 79767"/>
            </a:avLst>
          </a:prstGeom>
          <a:solidFill>
            <a:srgbClr val="EEAEF6"/>
          </a:solidFill>
          <a:ln/>
        </p:spPr>
      </p:sp>
      <p:sp>
        <p:nvSpPr>
          <p:cNvPr id="24" name="Text 20"/>
          <p:cNvSpPr/>
          <p:nvPr/>
        </p:nvSpPr>
        <p:spPr>
          <a:xfrm>
            <a:off x="4874716" y="3589809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Digest Builder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874716" y="3842370"/>
            <a:ext cx="147615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Applies user preferences and outputs Markdown.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556697" y="3467026"/>
            <a:ext cx="1764581" cy="804714"/>
          </a:xfrm>
          <a:prstGeom prst="roundRect">
            <a:avLst>
              <a:gd name="adj" fmla="val 8522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42410" y="3467026"/>
            <a:ext cx="57150" cy="804714"/>
          </a:xfrm>
          <a:prstGeom prst="roundRect">
            <a:avLst>
              <a:gd name="adj" fmla="val 79767"/>
            </a:avLst>
          </a:prstGeom>
          <a:solidFill>
            <a:srgbClr val="EEAEF6"/>
          </a:solidFill>
          <a:ln/>
        </p:spPr>
      </p:sp>
      <p:sp>
        <p:nvSpPr>
          <p:cNvPr id="28" name="Text 24"/>
          <p:cNvSpPr/>
          <p:nvPr/>
        </p:nvSpPr>
        <p:spPr>
          <a:xfrm>
            <a:off x="6722343" y="3589809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722343" y="3842370"/>
            <a:ext cx="147615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Connects to PostgreSQL to fetch user profiles.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24362" y="359941"/>
            <a:ext cx="4924276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Three Design Decisions We Can Defend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824362" y="1200820"/>
            <a:ext cx="4924276" cy="1188393"/>
          </a:xfrm>
          <a:prstGeom prst="roundRect">
            <a:avLst>
              <a:gd name="adj" fmla="val 3993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38649" y="1215107"/>
            <a:ext cx="451842" cy="1159818"/>
          </a:xfrm>
          <a:prstGeom prst="roundRect">
            <a:avLst>
              <a:gd name="adj" fmla="val 6707"/>
            </a:avLst>
          </a:prstGeom>
          <a:solidFill>
            <a:srgbClr val="282D5E"/>
          </a:solidFill>
          <a:ln/>
        </p:spPr>
      </p:sp>
      <p:sp>
        <p:nvSpPr>
          <p:cNvPr id="6" name="Text 3"/>
          <p:cNvSpPr/>
          <p:nvPr/>
        </p:nvSpPr>
        <p:spPr>
          <a:xfrm>
            <a:off x="3979813" y="168912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0458" y="1328068"/>
            <a:ext cx="251348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asyncio + aiohttp over a Thread Pool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80458" y="1558528"/>
            <a:ext cx="4240932" cy="703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I/O is the bottleneck; cooperative multitasking overlaps all socket waits in a single thread with </a:t>
            </a:r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lock contention.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Rejected: ThreadPoolExecutor wastes memory and OS context-switch overhead.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824362" y="2479179"/>
            <a:ext cx="4924276" cy="1026021"/>
          </a:xfrm>
          <a:prstGeom prst="roundRect">
            <a:avLst>
              <a:gd name="adj" fmla="val 4624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38649" y="2493466"/>
            <a:ext cx="451842" cy="997446"/>
          </a:xfrm>
          <a:prstGeom prst="roundRect">
            <a:avLst>
              <a:gd name="adj" fmla="val 6707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3979813" y="2886298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80458" y="2606427"/>
            <a:ext cx="299144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Pydantic Settings over Manual Env Parsing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0458" y="2836887"/>
            <a:ext cx="4240932" cy="541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fails fast with a readable error if an API key is missing; all values are </a:t>
            </a:r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strictly typed.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Rejected: python-decouple lacks model-level cross-field checks.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824362" y="3595167"/>
            <a:ext cx="4924276" cy="1188393"/>
          </a:xfrm>
          <a:prstGeom prst="roundRect">
            <a:avLst>
              <a:gd name="adj" fmla="val 3993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38649" y="3609454"/>
            <a:ext cx="451842" cy="1159818"/>
          </a:xfrm>
          <a:prstGeom prst="roundRect">
            <a:avLst>
              <a:gd name="adj" fmla="val 6707"/>
            </a:avLst>
          </a:prstGeom>
          <a:solidFill>
            <a:srgbClr val="282D5E"/>
          </a:solidFill>
          <a:ln/>
        </p:spPr>
      </p:sp>
      <p:sp>
        <p:nvSpPr>
          <p:cNvPr id="16" name="Text 13"/>
          <p:cNvSpPr/>
          <p:nvPr/>
        </p:nvSpPr>
        <p:spPr>
          <a:xfrm>
            <a:off x="3979813" y="4083472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380458" y="3722415"/>
            <a:ext cx="243415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Abstract Base Class for Repository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80458" y="3952875"/>
            <a:ext cx="4240932" cy="703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Forces any storage backend to implement the </a:t>
            </a:r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contract at import time.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Rejected: A plain Protocol would not allow sharing concrete lifecycle methods like seed_defaults.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58825"/>
            <a:ext cx="4692402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Concurrency: The Benchmark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98066" y="756196"/>
            <a:ext cx="419330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Workload: 5 configured feeds, 25 articles, cold cache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1181695"/>
            <a:ext cx="3833366" cy="27592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17182" y="1170012"/>
            <a:ext cx="212764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Why Near-Perfect 5.0×?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17182" y="1443484"/>
            <a:ext cx="383336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5 feeds run in parallel; the bottleneck is the slowest host's socket RTT (tail latency), not Python.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17182" y="1870993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 Stage is Separate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17182" y="2144464"/>
            <a:ext cx="383336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Semaphore(5) caps concurrent Gemini calls independently — no coupling between fetch speed and API rate limits.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8066" y="4151412"/>
            <a:ext cx="7947794" cy="633264"/>
          </a:xfrm>
          <a:prstGeom prst="roundRect">
            <a:avLst>
              <a:gd name="adj" fmla="val 7639"/>
            </a:avLst>
          </a:prstGeom>
          <a:solidFill>
            <a:srgbClr val="282D5E"/>
          </a:solidFill>
          <a:ln/>
        </p:spPr>
      </p:sp>
      <p:sp>
        <p:nvSpPr>
          <p:cNvPr id="10" name="Text 7"/>
          <p:cNvSpPr/>
          <p:nvPr/>
        </p:nvSpPr>
        <p:spPr>
          <a:xfrm>
            <a:off x="713184" y="4266530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5.0× Speedup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184" y="4502572"/>
            <a:ext cx="771755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Semaphore(8)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6747"/>
            <a:ext cx="712373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Robustness: One Concrete Failure Mode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880542"/>
            <a:ext cx="435195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Scenario: Gemini returns HTTP 429 (Rate Limit)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01" y="1284833"/>
            <a:ext cx="4099099" cy="5404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7963" y="195403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Retry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7963" y="2242393"/>
            <a:ext cx="38289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tenacity AsyncRetrying triggers exponential backoff (up to 3 total attempts).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84833"/>
            <a:ext cx="4099099" cy="5404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7062" y="195403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Validate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707062" y="2242393"/>
            <a:ext cx="382897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ProcessedArticle Pydantic schema rejects any malformed JSON response before it can corrupt the cache.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3010793"/>
            <a:ext cx="4099099" cy="5404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963" y="367999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Log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07963" y="3968353"/>
            <a:ext cx="38289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ai_label_failed warning with URL and reason; corrupted cache file is unlinked automatically.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10793"/>
            <a:ext cx="4099099" cy="54046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07062" y="367999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Degrade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707062" y="3968353"/>
            <a:ext cx="382897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Failed articles are skipped via asyncio.gather(return_exceptions=True); the digest is still produced for all remaining articles.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9640" y="395139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Live Demo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09640" y="877491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Commands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909640" y="1291530"/>
            <a:ext cx="4753719" cy="923553"/>
          </a:xfrm>
          <a:prstGeom prst="roundRect">
            <a:avLst>
              <a:gd name="adj" fmla="val 6246"/>
            </a:avLst>
          </a:prstGeom>
          <a:solidFill>
            <a:srgbClr val="161B4C"/>
          </a:solidFill>
          <a:ln/>
        </p:spPr>
      </p:sp>
      <p:sp>
        <p:nvSpPr>
          <p:cNvPr id="6" name="Shape 3"/>
          <p:cNvSpPr/>
          <p:nvPr/>
        </p:nvSpPr>
        <p:spPr>
          <a:xfrm>
            <a:off x="3902794" y="1291530"/>
            <a:ext cx="4767411" cy="923553"/>
          </a:xfrm>
          <a:prstGeom prst="roundRect">
            <a:avLst>
              <a:gd name="adj" fmla="val 2231"/>
            </a:avLst>
          </a:prstGeom>
          <a:solidFill>
            <a:srgbClr val="161B4C"/>
          </a:solidFill>
          <a:ln/>
        </p:spPr>
      </p:sp>
      <p:sp>
        <p:nvSpPr>
          <p:cNvPr id="7" name="Text 4"/>
          <p:cNvSpPr/>
          <p:nvPr/>
        </p:nvSpPr>
        <p:spPr>
          <a:xfrm>
            <a:off x="4074393" y="1428824"/>
            <a:ext cx="4424214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--env-file .env finalproj python -m src run-daily --user saida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src/app.py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09640" y="2414588"/>
            <a:ext cx="259638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What Happens on Screen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909640" y="2828627"/>
            <a:ext cx="4753719" cy="785217"/>
          </a:xfrm>
          <a:prstGeom prst="roundRect">
            <a:avLst>
              <a:gd name="adj" fmla="val 7346"/>
            </a:avLst>
          </a:prstGeom>
          <a:solidFill>
            <a:srgbClr val="282D5E"/>
          </a:solidFill>
          <a:ln/>
        </p:spPr>
      </p:sp>
      <p:sp>
        <p:nvSpPr>
          <p:cNvPr id="10" name="Text 7"/>
          <p:cNvSpPr/>
          <p:nvPr/>
        </p:nvSpPr>
        <p:spPr>
          <a:xfrm>
            <a:off x="4046934" y="2965921"/>
            <a:ext cx="214826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AI-Generated Summaries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046934" y="3260229"/>
            <a:ext cx="447913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2–3 sentence summaries with topic labels and sentiment scores.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09640" y="3746822"/>
            <a:ext cx="4753719" cy="1001539"/>
          </a:xfrm>
          <a:prstGeom prst="roundRect">
            <a:avLst>
              <a:gd name="adj" fmla="val 5759"/>
            </a:avLst>
          </a:prstGeom>
          <a:solidFill>
            <a:srgbClr val="282D5E"/>
          </a:solidFill>
          <a:ln/>
        </p:spPr>
      </p:sp>
      <p:sp>
        <p:nvSpPr>
          <p:cNvPr id="13" name="Text 10"/>
          <p:cNvSpPr/>
          <p:nvPr/>
        </p:nvSpPr>
        <p:spPr>
          <a:xfrm>
            <a:off x="4046934" y="388411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Second Run: &lt;0.1s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46934" y="4178424"/>
            <a:ext cx="447913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cache hit rate proves our SHA-256 content-hash file cache works end-to-end.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495002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115379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Coverage &amp; Shape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4132" y="1456134"/>
            <a:ext cx="3986585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Provided ai/ smoke tests: </a:t>
            </a:r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PASSING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Tooling: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pytest, pytest-asyncio, pytest-cov, unittest.mock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728046" y="1153790"/>
            <a:ext cx="27204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Three Tests Worth Calling 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28046" y="146967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7" name="Text 5"/>
          <p:cNvSpPr/>
          <p:nvPr/>
        </p:nvSpPr>
        <p:spPr>
          <a:xfrm>
            <a:off x="4774555" y="149293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115595" y="151231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test_pipeline.py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15595" y="1814661"/>
            <a:ext cx="359903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Happy-path end-to-end with mocked AI and mocked DB.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28046" y="2217762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11" name="Text 9"/>
          <p:cNvSpPr/>
          <p:nvPr/>
        </p:nvSpPr>
        <p:spPr>
          <a:xfrm>
            <a:off x="4774555" y="224101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15595" y="2260402"/>
            <a:ext cx="16015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test_concurrency.py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15595" y="2562746"/>
            <a:ext cx="359903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task raises ProviderError; gather degrades gracefully.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28046" y="2965847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282D5E"/>
          </a:solidFill>
          <a:ln/>
        </p:spPr>
      </p:sp>
      <p:sp>
        <p:nvSpPr>
          <p:cNvPr id="15" name="Text 13"/>
          <p:cNvSpPr/>
          <p:nvPr/>
        </p:nvSpPr>
        <p:spPr>
          <a:xfrm>
            <a:off x="4774555" y="298910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15595" y="3008486"/>
            <a:ext cx="19526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test_ai_service_edges.py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15595" y="3310830"/>
            <a:ext cx="359903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Provider 429 triggers tenacity retry; succeeds on 3rd attempt.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132" y="3926979"/>
            <a:ext cx="4083621" cy="721519"/>
          </a:xfrm>
          <a:prstGeom prst="roundRect">
            <a:avLst>
              <a:gd name="adj" fmla="val 7221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2393" y="406524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81% Coverage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2393" y="4324201"/>
            <a:ext cx="380709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src/ SE layer coverage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6248" y="3926979"/>
            <a:ext cx="4083621" cy="721519"/>
          </a:xfrm>
          <a:prstGeom prst="roundRect">
            <a:avLst>
              <a:gd name="adj" fmla="val 7221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509" y="406524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Offline 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4509" y="4324201"/>
            <a:ext cx="380709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tests run fully offline (AI module is fully mocked).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86209"/>
            <a:ext cx="5629349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Limitations &amp; What We'd Do Next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78632"/>
            <a:ext cx="31414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Where the System is Brittle Today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49610" y="1410295"/>
            <a:ext cx="3965674" cy="994395"/>
          </a:xfrm>
          <a:prstGeom prst="roundRect">
            <a:avLst>
              <a:gd name="adj" fmla="val 6897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5322" y="1410295"/>
            <a:ext cx="57150" cy="994395"/>
          </a:xfrm>
          <a:prstGeom prst="roundRect">
            <a:avLst>
              <a:gd name="adj" fmla="val 94419"/>
            </a:avLst>
          </a:prstGeom>
          <a:solidFill>
            <a:srgbClr val="EEAEF6"/>
          </a:solidFill>
          <a:ln/>
        </p:spPr>
      </p:sp>
      <p:sp>
        <p:nvSpPr>
          <p:cNvPr id="6" name="Text 4"/>
          <p:cNvSpPr/>
          <p:nvPr/>
        </p:nvSpPr>
        <p:spPr>
          <a:xfrm>
            <a:off x="635198" y="15530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Single Connection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198" y="1870100"/>
            <a:ext cx="363735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uses a single asyncpg connection — needs a pool for high concurrency.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9610" y="2521074"/>
            <a:ext cx="3965674" cy="994395"/>
          </a:xfrm>
          <a:prstGeom prst="roundRect">
            <a:avLst>
              <a:gd name="adj" fmla="val 6897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322" y="2521074"/>
            <a:ext cx="57150" cy="994395"/>
          </a:xfrm>
          <a:prstGeom prst="roundRect">
            <a:avLst>
              <a:gd name="adj" fmla="val 94419"/>
            </a:avLst>
          </a:prstGeom>
          <a:solidFill>
            <a:srgbClr val="EEAEF6"/>
          </a:solidFill>
          <a:ln/>
        </p:spPr>
      </p:sp>
      <p:sp>
        <p:nvSpPr>
          <p:cNvPr id="10" name="Text 8"/>
          <p:cNvSpPr/>
          <p:nvPr/>
        </p:nvSpPr>
        <p:spPr>
          <a:xfrm>
            <a:off x="635198" y="266380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O(k²) Deduplication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198" y="2980879"/>
            <a:ext cx="363735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2 Jaccard comparison is in-memory and quadratic — needs MinHash LSH for large archives.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9610" y="3631853"/>
            <a:ext cx="3965674" cy="994395"/>
          </a:xfrm>
          <a:prstGeom prst="roundRect">
            <a:avLst>
              <a:gd name="adj" fmla="val 6897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322" y="3631853"/>
            <a:ext cx="57150" cy="994395"/>
          </a:xfrm>
          <a:prstGeom prst="roundRect">
            <a:avLst>
              <a:gd name="adj" fmla="val 94419"/>
            </a:avLst>
          </a:prstGeom>
          <a:solidFill>
            <a:srgbClr val="EEAEF6"/>
          </a:solidFill>
          <a:ln/>
        </p:spPr>
      </p:sp>
      <p:sp>
        <p:nvSpPr>
          <p:cNvPr id="14" name="Text 12"/>
          <p:cNvSpPr/>
          <p:nvPr/>
        </p:nvSpPr>
        <p:spPr>
          <a:xfrm>
            <a:off x="635198" y="3774579"/>
            <a:ext cx="202361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 Cross-Process Budget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198" y="4091657"/>
            <a:ext cx="363735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process holds its own Semaphore(5) — can exceed provider quota if scaled horizontally.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3479" y="1078632"/>
            <a:ext cx="290601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Given Another Week We Would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33479" y="141029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3479" y="1614339"/>
            <a:ext cx="3965674" cy="14288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9" name="Text 17"/>
          <p:cNvSpPr/>
          <p:nvPr/>
        </p:nvSpPr>
        <p:spPr>
          <a:xfrm>
            <a:off x="4733479" y="1707133"/>
            <a:ext cx="174188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OpenTelemetry Spans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33479" y="2024211"/>
            <a:ext cx="396567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 per-article latency end-to-end.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33479" y="2432819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33479" y="2636862"/>
            <a:ext cx="3965674" cy="14288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3" name="Text 21"/>
          <p:cNvSpPr/>
          <p:nvPr/>
        </p:nvSpPr>
        <p:spPr>
          <a:xfrm>
            <a:off x="4733479" y="2729657"/>
            <a:ext cx="201059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asyncpg Connection Pool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33479" y="3046735"/>
            <a:ext cx="396567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a pool and load-test with k6.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3479" y="34553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3479" y="3659386"/>
            <a:ext cx="3965674" cy="14288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7" name="Text 25"/>
          <p:cNvSpPr/>
          <p:nvPr/>
        </p:nvSpPr>
        <p:spPr>
          <a:xfrm>
            <a:off x="4733479" y="3752180"/>
            <a:ext cx="171688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Persist Digest History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33479" y="4069259"/>
            <a:ext cx="396567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Store in PostgreSQL for the Streamlit UI.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3132" y="444401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Team Contributions 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863132" y="994693"/>
            <a:ext cx="4846737" cy="692944"/>
          </a:xfrm>
          <a:prstGeom prst="roundRect">
            <a:avLst>
              <a:gd name="adj" fmla="val 7519"/>
            </a:avLst>
          </a:prstGeom>
          <a:solidFill>
            <a:srgbClr val="282D5E"/>
          </a:solidFill>
          <a:ln/>
        </p:spPr>
      </p:sp>
      <p:sp>
        <p:nvSpPr>
          <p:cNvPr id="5" name="Text 2"/>
          <p:cNvSpPr/>
          <p:nvPr/>
        </p:nvSpPr>
        <p:spPr>
          <a:xfrm>
            <a:off x="3987105" y="111866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Saida Arabova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87105" y="1377628"/>
            <a:ext cx="4598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Fetch Service, Config, Streamlit UI, Integration Tests, Presentation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863132" y="1796132"/>
            <a:ext cx="4846737" cy="692944"/>
          </a:xfrm>
          <a:prstGeom prst="roundRect">
            <a:avLst>
              <a:gd name="adj" fmla="val 7519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3987105" y="192010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Nigar Rustamova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87105" y="2179067"/>
            <a:ext cx="4598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Service (retry / caching), Deduplication, Tests, Presentation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63132" y="2597572"/>
            <a:ext cx="4846737" cy="692944"/>
          </a:xfrm>
          <a:prstGeom prst="roundRect">
            <a:avLst>
              <a:gd name="adj" fmla="val 7519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3987105" y="272154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Laman Mirzayeva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87105" y="2980506"/>
            <a:ext cx="4598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Digest Builder, File Cache, PostgreSQL Repository, Report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63132" y="3399011"/>
            <a:ext cx="4846737" cy="692944"/>
          </a:xfrm>
          <a:prstGeom prst="roundRect">
            <a:avLst>
              <a:gd name="adj" fmla="val 7519"/>
            </a:avLst>
          </a:prstGeom>
          <a:solidFill>
            <a:srgbClr val="282D5E"/>
          </a:solidFill>
          <a:ln/>
        </p:spPr>
      </p:sp>
      <p:sp>
        <p:nvSpPr>
          <p:cNvPr id="14" name="Text 11"/>
          <p:cNvSpPr/>
          <p:nvPr/>
        </p:nvSpPr>
        <p:spPr>
          <a:xfrm>
            <a:off x="3987105" y="352298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Nazrin Aliyeva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87105" y="3781946"/>
            <a:ext cx="4598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Orchestration, Benchmarking, Docker Setup, Tests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63132" y="4213994"/>
            <a:ext cx="4846737" cy="485105"/>
          </a:xfrm>
          <a:prstGeom prst="roundRect">
            <a:avLst>
              <a:gd name="adj" fmla="val 10740"/>
            </a:avLst>
          </a:prstGeom>
          <a:solidFill>
            <a:srgbClr val="3E084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105" y="4393778"/>
            <a:ext cx="155004" cy="1239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66084" y="4353446"/>
            <a:ext cx="47770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AIngels — </a:t>
            </a:r>
            <a:pPr algn="l" indent="0" marL="0">
              <a:lnSpc>
                <a:spcPct val="125000"/>
              </a:lnSpc>
              <a:buNone/>
            </a:pPr>
            <a:r>
              <a:rPr lang="en-US" sz="950" u="sng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github.com/saidaarna/news-briefing-service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2026-05-23T22:17:38Z</dcterms:created>
  <dcterms:modified xsi:type="dcterms:W3CDTF">2026-05-23T22:17:38Z</dcterms:modified>
</cp:coreProperties>
</file>